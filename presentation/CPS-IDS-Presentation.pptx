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  <a:latin typeface="Calibri"/>
              </a:defRPr>
            </a:pPr>
            <a:r>
              <a:t>CPS-IDS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BBBCC"/>
                </a:solidFill>
                <a:latin typeface="Calibri"/>
              </a:defRPr>
            </a:pPr>
            <a:r>
              <a:t>AI/ML-Driven Intrusion Detection for Cyber-Physical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CITY3116 — Advanced Computer Forensics  |  2025–26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Calibri"/>
              </a:defRPr>
            </a:pPr>
            <a:r>
              <a:t>CPS Testbed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Physical Arduino plant + software simulation (Purdue model)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029200" cy="41148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Level 3 — SCADA PC / IDS / Attacker</a:t>
            </a:r>
            <a:br/>
            <a:r>
              <a:t>  │  Ethernet (Modbus TCP)</a:t>
            </a:r>
            <a:br/>
            <a:r>
              <a:t>Level 2 — TP-Link LS1005G Switch</a:t>
            </a:r>
            <a:br/>
            <a:r>
              <a:t>  │</a:t>
            </a:r>
            <a:br/>
            <a:r>
              <a:t>  ├─ PLC 1 (Mega + W5500)  192.168.1.20</a:t>
            </a:r>
            <a:br/>
            <a:r>
              <a:t>  │    │  RS-485 (Modbus RTU)</a:t>
            </a:r>
            <a:br/>
            <a:r>
              <a:t>  └─ PLC 2 (Uno + MAX485)</a:t>
            </a:r>
            <a:br/>
            <a:r>
              <a:t>  │</a:t>
            </a:r>
            <a:br/>
            <a:r>
              <a:t>Level 1 — Control Logic</a:t>
            </a:r>
            <a:br/>
            <a:r>
              <a:t>  │</a:t>
            </a:r>
            <a:br/>
            <a:r>
              <a:t>Level 0 — Sensors &amp; Actuators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55448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 PLC 1 (Arduino Mega): Modbus TCP server, pump/valve control, RFID auth, LCD HMI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 PLC 2 (Arduino Uno): Modbus RTU slave, 5 sensors (ultrasonic, temp, sound, motion, water)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 Software twin: MiniCPS/pymodbus simulation with identical register map and control logic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 Plant dashboard: FastAPI + WebSocket GUI with live SVG visualisation and attack terminal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•  Control logic: pump ON &lt; 30%, OFF &gt; 85%; valve synced; temp alarm &gt; 40°C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Calibri"/>
              </a:defRPr>
            </a:pPr>
            <a:r>
              <a:t>Multi-Layer IDS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Implemented in Rust (6-crate workspace) for memory safety and performance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73152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40AF"/>
                </a:solidFill>
                <a:latin typeface="Calibri"/>
              </a:defRPr>
            </a:pPr>
            <a: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060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Rule Engine Rules</a:t>
            </a:r>
            <a:br/>
            <a:r>
              <a:t>SYN flood, port scan,</a:t>
            </a:r>
            <a:br/>
            <a:r>
              <a:t>Modbus abuse, injection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82880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1828800"/>
            <a:ext cx="73152" cy="1371600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9659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92400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6060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Modbus Analysers</a:t>
            </a:r>
            <a:br/>
            <a:r>
              <a:t>Write-rate anomaly</a:t>
            </a:r>
            <a:br/>
            <a:r>
              <a:t>Read flood detection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82880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828800"/>
            <a:ext cx="73152" cy="13716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659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65F4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6060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ML Models</a:t>
            </a:r>
            <a:br/>
            <a:r>
              <a:t>Random Forest, CNN+LSTM</a:t>
            </a:r>
            <a:br/>
            <a:r>
              <a:t>Isolation Forest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182880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0" y="1828800"/>
            <a:ext cx="73152" cy="13716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9659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94560"/>
                </a:solidFill>
                <a:latin typeface="Calibri"/>
              </a:defRPr>
            </a:pPr>
            <a:r>
              <a:t>78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6060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Flow Features</a:t>
            </a:r>
            <a:br/>
            <a:r>
              <a:t>Extracted per flow for</a:t>
            </a:r>
            <a:br/>
            <a:r>
              <a:t>CNN+LSTM inference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Detection Pipeline:   Rule Engine  →  Modbus Analysis  →  CNN+LSTM Inference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57200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•  ids-common: shared types, config, errors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•  ids-collector: packet capture, flow tracking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•  ids-preprocess: dataset loaders, SMOTE, scaling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57200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•  ids-engine: models, rules, ML inference, binaries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•  ids-response: alerter, blocker, SIEM export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400">
                <a:solidFill>
                  <a:srgbClr val="666666"/>
                </a:solidFill>
                <a:latin typeface="Calibri"/>
              </a:defRPr>
            </a:pPr>
            <a:r>
              <a:t>•  ids-dashboard: web UI stub (axum)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Calibri"/>
              </a:defRPr>
            </a:pPr>
            <a:r>
              <a:t>AI/ML Model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3 complementary models trained on 3 public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CNN+LSTM (~297K parameters)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Conv1d → ReLU → BatchNorm → Conv1d (feature extraction)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LSTM: 2 layers, 128 hidden units (temporal patterns)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FC: 128 → 64 → 5 classes, dropout 0.3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PyTorch training → ONNX export for live inference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Early stopping with patience=5, LR decay on plateau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Ensemble (RF + Isolation Forest)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Random Forest: 100 trees, max depth 20 (supervised)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Isolation Forest: anomaly detection for zero-days (unsupervised)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Hard voting: 70% RF / 30% IForest weighted blend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463040"/>
          <a:ext cx="53035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097280"/>
                <a:gridCol w="3657600"/>
              </a:tblGrid>
              <a:tr h="3048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 Attacks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Benign traffic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DoS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DDoS, SYN flood, Slowloris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Probe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Port scan, reconnaissance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R2L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Brute force, web attacks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U2R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Buffer overflow, rootkit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3931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Training Datasets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4389120"/>
          <a:ext cx="53035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828800"/>
                <a:gridCol w="731520"/>
                <a:gridCol w="1005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SMOTE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NSL-KDD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1999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CIC-IDS2017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2017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UNSW-NB15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Combined (A+B+C)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Mixed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276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Calibri"/>
              </a:defRPr>
            </a:pPr>
            <a:r>
              <a:t>Training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99669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645920"/>
                <a:gridCol w="914400"/>
                <a:gridCol w="1463040"/>
                <a:gridCol w="1371600"/>
                <a:gridCol w="1554480"/>
                <a:gridCol w="137160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CNN+LSTM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Isolation Forest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RF+IForest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FPR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NSL-KDD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67.26%*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65.94%*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77.24%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67.26%*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0.0301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CIC-IDS2017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99.73%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99.83%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81.37%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99.73%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0.0006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UNSW-NB15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93.90%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92.95%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82.50%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93.84%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0.0251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Combined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276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97.80%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97.67%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80.20%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97.82%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0.0043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657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*Model A limited by NSL-KDD binary-only test labels (Probe/R2L/U2R collapsed)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9768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4297680"/>
            <a:ext cx="73152" cy="13716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4348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94560"/>
                </a:solidFill>
                <a:latin typeface="Calibri"/>
              </a:defRPr>
            </a:pPr>
            <a:r>
              <a:t>99.83%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50749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Best Accuracy</a:t>
            </a:r>
            <a:br/>
            <a:r>
              <a:t>CNN+LSTM, Model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429768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4297680"/>
            <a:ext cx="73152" cy="13716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4348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94560"/>
                </a:solidFill>
                <a:latin typeface="Calibri"/>
              </a:defRPr>
            </a:pPr>
            <a:r>
              <a:t>0.06%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50749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False Positive Rate</a:t>
            </a:r>
            <a:br/>
            <a:r>
              <a:t>Model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429768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4297680"/>
            <a:ext cx="73152" cy="13716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19" y="44348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94560"/>
                </a:solidFill>
                <a:latin typeface="Calibri"/>
              </a:defRPr>
            </a:pPr>
            <a:r>
              <a:t>97.82%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19" y="50749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Cross-Era Generalisation</a:t>
            </a:r>
            <a:br/>
            <a:r>
              <a:t>Ensemble, Model 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Calibri"/>
              </a:defRPr>
            </a:pPr>
            <a:r>
              <a:t>Live IDS Monitor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Real-time packet capture, flow analysis, and ML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Rust binary captures packets via pnet (raw sockets)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Bidirectional flow tracking with configurable timeout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Extracts 78 CIC-IDS2017 features per completed flow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Python subprocess runs ONNX model via JSON Lines IPC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Time-windowed inference every 10s on active 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Modbus-Specific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Write-rate anomaly: &gt;2.0 writes/sec triggers alert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Read flood detection: &gt;50 reads/sec flagged as DoS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Domain-adapted classifier for Modbus flow patterns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82880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1828800"/>
            <a:ext cx="73152" cy="13716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19659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65F46"/>
                </a:solidFill>
                <a:latin typeface="Calibri"/>
              </a:defRPr>
            </a:pPr>
            <a:r>
              <a:t>~1ms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6060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ML Inference</a:t>
            </a:r>
            <a:br/>
            <a:r>
              <a:t>Latency per prediction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0" y="182880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418320" y="1828800"/>
            <a:ext cx="73152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0" y="19659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40AF"/>
                </a:solidFill>
                <a:latin typeface="Calibri"/>
              </a:defRPr>
            </a:pPr>
            <a:r>
              <a:t>10s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26060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Inference Window</a:t>
            </a:r>
            <a:br/>
            <a:r>
              <a:t>Active flow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931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Alert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38912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Structured JSON (alerts.jsonl) with severity levels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Per-alert: category, confidence, model source, 5-tuple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SIEM-ready: CEF/syslog export capability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Graceful shutdown with final flow expiry and stats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Calibri"/>
              </a:defRPr>
            </a:pPr>
            <a:r>
              <a:t>Forensic Investigation: Attack 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7 attacks executed via automated pipeline (tmux + tcpdump + IDS + attack runner)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011680"/>
                <a:gridCol w="2286000"/>
                <a:gridCol w="100584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Attack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Modbus FC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Command Injection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FC 0x05 (Write Coil)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Forces pump ON/OFF every 5 seconds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Pump Oscillation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FC 0x05 (Write Coil)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45s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Rapid pump toggle every 2s (Stuxnet-style)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Valve Manipulation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FC 0x06 (Write Reg)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Random valve positions (0–180°) every 3s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Replay Attack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FC 0x05 (Write Coil)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45s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Replays recorded ON/OFF command sequence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Sensor Spoofing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FC 0x06 (Write Reg)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Writes fake tank levels (0–100) every 2s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Modbus Flood (DoS)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FC 0x03 (Read Reg)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100× read requests per iteration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Multi-Stage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Mixed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Recon (10s) → manipulation (20s) → flood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66666"/>
                </a:solidFill>
                <a:latin typeface="Calibri"/>
              </a:defRPr>
            </a:pPr>
            <a:r>
              <a:t>Evidence captured:  full-session.pcap (tcpdump)  |  alerts.jsonl (IDS)  |  attack-manifest.json (timestamps)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Calibri"/>
              </a:defRPr>
            </a:pPr>
            <a:r>
              <a:t>Investigation Results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73152" cy="13716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91639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65F46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ML Alerts</a:t>
            </a:r>
            <a:br/>
            <a:r>
              <a:t>Across all 7 attacks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55448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0" y="1554480"/>
            <a:ext cx="73152" cy="1371600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691639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92400E"/>
                </a:solidFill>
                <a:latin typeface="Calibri"/>
              </a:defRPr>
            </a:pPr>
            <a:r>
              <a:t>300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3317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Write-Rate Alerts</a:t>
            </a:r>
            <a:br/>
            <a:r>
              <a:t>Modbus anomaly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155448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0" y="1554480"/>
            <a:ext cx="73152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1691639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40AF"/>
                </a:solidFill>
                <a:latin typeface="Calibri"/>
              </a:defRPr>
            </a:pPr>
            <a:r>
              <a:t>8,126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Flood Detection</a:t>
            </a:r>
            <a:br/>
            <a:r>
              <a:t>DoS &amp; multi-stage attacks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554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Detection Coverage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0" y="2011680"/>
          <a:ext cx="30175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48640"/>
                <a:gridCol w="731520"/>
                <a:gridCol w="548640"/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Attack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Modbus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Cmd Injection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Pump Oscillation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Valve Manip.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Replay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Sensor Spoof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Modbus Flood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Multi-Stage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57200" y="33832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Forensic Tools &amp;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40480"/>
            <a:ext cx="7772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Wireshark: pcap analysis with Modbus TCP dissector (modbus.func_code filter)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tcpdump: live packet capture on loopback port 5502 during attack sequence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Custom IDS monitor: 3-layer real-time alert generation with JSON structured output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Attack manifest: JSON timestamps for precise correlation of alerts to attack phases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Key finding: multi-layer detection achieves 100% attack coverage — every attack type detected by all 3 layers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Calibri"/>
              </a:defRPr>
            </a:pPr>
            <a:r>
              <a:t>Evaluation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65F46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2024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CNN+LSTM achieves 99.83% accuracy with 0.06% FPR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Multi-layer defence-in-depth (rules + rate + ML)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Cross-dataset generalisation at 97.8% (Model D)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Real-time inference &lt;1ms via ONNX Runtime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Ensemble improves minority class recall (R2L +7%)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94560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U2R class hardest (extremely rare training samples)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Model A degraded by NSL-KDD binary test labels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Domain gap: training data ≠ live Modbus traffic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Rule engine generates false positives on localhost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40AF"/>
                </a:solidFill>
                <a:latin typeface="Calibri"/>
              </a:defRPr>
            </a:pPr>
            <a:r>
              <a:t>Recommendations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Domain adaptation: fine-tune on captured Modbus traffic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Federated learning: train across CPS sites privately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Adaptive thresholds: tune rule engine per deployment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SIEM integration: CEF/syslog export for SOC workflows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657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Standards 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ISO 27001: A.12.4 logging, A.16 incident management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IEC 62443: defence-in-depth for industrial control systems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NIST CSF: Detect &amp; Respond functions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•  OWASP Top 10: injection prevention, access control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2E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55448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554480"/>
            <a:ext cx="73152" cy="13716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91639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A1A2E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317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Rust Crates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55448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83280" y="1554480"/>
            <a:ext cx="73152" cy="13716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691639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A1A2E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317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Model Variants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155448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2160" y="1554480"/>
            <a:ext cx="73152" cy="13716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691639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94560"/>
                </a:solidFill>
                <a:latin typeface="Calibri"/>
              </a:defRPr>
            </a:pPr>
            <a:r>
              <a:t>99.83%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3317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Best Accuracy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554480"/>
            <a:ext cx="2194560" cy="1371600"/>
          </a:xfrm>
          <a:prstGeom prst="round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21040" y="1554480"/>
            <a:ext cx="73152" cy="137160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19" y="1691639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65F46"/>
                </a:solidFill>
                <a:latin typeface="Calibri"/>
              </a:defRPr>
            </a:pPr>
            <a:r>
              <a:t>7 / 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3317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Attacks Detected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47472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•  Built a complete CPS testbed (Arduino hardware + MiniCPS software simulation)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•  Trained CNN+LSTM, Random Forest, and Isolation Forest on 3 public IDS datasets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•  Deployed live IDS monitor with real-time ONNX inference (~1ms per prediction)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•  Conducted forensic investigation detecting all 7 attack types across 3 detection layers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800">
                <a:solidFill>
                  <a:srgbClr val="1A1A2E"/>
                </a:solidFill>
                <a:latin typeface="Calibri"/>
              </a:defRPr>
            </a:pPr>
            <a:r>
              <a:t>•  Multi-layer approach compensates for individual model weaknesses — 100% attack 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4864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A1A2E"/>
                </a:solidFill>
                <a:latin typeface="Calibri"/>
              </a:defRPr>
            </a:pPr>
            <a: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
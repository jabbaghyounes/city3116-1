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  <a:latin typeface="Calibri"/>
              </a:defRPr>
            </a:pPr>
            <a:r>
              <a:t>CPS-IDS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BBBBCC"/>
                </a:solidFill>
                <a:latin typeface="Calibri"/>
              </a:defRPr>
            </a:pPr>
            <a:r>
              <a:t>AI/ML-Driven Intrusion Detection for Cyber-Physical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Calibri"/>
              </a:defRPr>
            </a:pPr>
            <a:r>
              <a:t>CITY3116 — Advanced Computer Forensics  |  2025–26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Calibri"/>
              </a:defRPr>
            </a:pPr>
            <a:r>
              <a:t>CPS Testbed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  <a:latin typeface="Calibri"/>
              </a:defRPr>
            </a:pPr>
            <a:r>
              <a:t>Physical Arduino plant + software simulation (Purdue model)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5029200" cy="4114800"/>
          </a:xfrm>
          <a:prstGeom prst="round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A1A2E"/>
                </a:solidFill>
                <a:latin typeface="Consolas"/>
              </a:defRPr>
            </a:pPr>
            <a:r>
              <a:t>Level 3 — SCADA PC / IDS / Attacker</a:t>
            </a:r>
            <a:br/>
            <a:r>
              <a:t>  │  Ethernet (Modbus TCP)</a:t>
            </a:r>
            <a:br/>
            <a:r>
              <a:t>Level 2 — TP-Link LS1005G Switch</a:t>
            </a:r>
            <a:br/>
            <a:r>
              <a:t>  │</a:t>
            </a:r>
            <a:br/>
            <a:r>
              <a:t>  ├─ PLC 1 (Mega + W5500)  192.168.1.20</a:t>
            </a:r>
            <a:br/>
            <a:r>
              <a:t>  │    │  RS-485 (Modbus RTU)</a:t>
            </a:r>
            <a:br/>
            <a:r>
              <a:t>  └─ PLC 2 (Uno + MAX485)</a:t>
            </a:r>
            <a:br/>
            <a:r>
              <a:t>  │</a:t>
            </a:r>
            <a:br/>
            <a:r>
              <a:t>Level 1 — Control Logic</a:t>
            </a:r>
            <a:br/>
            <a:r>
              <a:t>  │</a:t>
            </a:r>
            <a:br/>
            <a:r>
              <a:t>Level 0 — Sensors &amp; Actuators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554480"/>
            <a:ext cx="5760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•  PLC 1 (Arduino Mega): Modbus TCP server, pump/valve control, RFID auth, LCD HMI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•  PLC 2 (Arduino Uno): Modbus RTU slave, 5 sensors (ultrasonic, temp, sound, motion, water)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•  Software twin: MiniCPS/pymodbus simulation with identical register map and control logic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•  Plant dashboard: FastAPI + WebSocket GUI with live SVG visualisation and attack terminal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•  Control logic: pump ON &lt; 30%, OFF &gt; 85%; valve synced; temp alarm &gt; 40°C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Calibri"/>
              </a:defRPr>
            </a:pPr>
            <a:r>
              <a:t>Multi-Layer IDS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  <a:latin typeface="Calibri"/>
              </a:defRPr>
            </a:pPr>
            <a:r>
              <a:t>Implemented in Rust (6-crate workspace) for memory safety and performance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2194560" cy="1371600"/>
          </a:xfrm>
          <a:prstGeom prst="round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73152" cy="13716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E40AF"/>
                </a:solidFill>
                <a:latin typeface="Calibri"/>
              </a:defRPr>
            </a:pPr>
            <a: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0604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Rule Engine Rules</a:t>
            </a:r>
            <a:br/>
            <a:r>
              <a:t>SYN flood, port scan,</a:t>
            </a:r>
            <a:br/>
            <a:r>
              <a:t>Modbus abuse, injection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1828800"/>
            <a:ext cx="2194560" cy="1371600"/>
          </a:xfrm>
          <a:prstGeom prst="round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926080" y="1828800"/>
            <a:ext cx="73152" cy="1371600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196596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92400E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60604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Modbus Analysers</a:t>
            </a:r>
            <a:br/>
            <a:r>
              <a:t>Write-rate anomaly</a:t>
            </a:r>
            <a:br/>
            <a:r>
              <a:t>Read flood detection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94960" y="1828800"/>
            <a:ext cx="2194560" cy="1371600"/>
          </a:xfrm>
          <a:prstGeom prst="round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394960" y="1828800"/>
            <a:ext cx="73152" cy="13716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77840" y="196596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E94560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0" y="260604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CPS Physics Checks</a:t>
            </a:r>
            <a:br/>
            <a:r>
              <a:t>Register bounds, pump</a:t>
            </a:r>
            <a:br/>
            <a:r>
              <a:t>oscillation, spoofing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0" y="1828800"/>
            <a:ext cx="2194560" cy="1371600"/>
          </a:xfrm>
          <a:prstGeom prst="round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63840" y="1828800"/>
            <a:ext cx="73152" cy="137160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19" y="196596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65F46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9" y="260604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ML Models</a:t>
            </a:r>
            <a:br/>
            <a:r>
              <a:t>Random Forest, CNN+LSTM</a:t>
            </a:r>
            <a:br/>
            <a:r>
              <a:t>Isolation Forest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8404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1A2E"/>
                </a:solidFill>
                <a:latin typeface="Calibri"/>
              </a:defRPr>
            </a:pPr>
            <a:r>
              <a:t>Detection Pipeline:   Rule Engine  →  Modbus Analysis  →  CPS Physics  →  CNN+LSTM Inference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572000"/>
            <a:ext cx="5303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666666"/>
                </a:solidFill>
                <a:latin typeface="Calibri"/>
              </a:defRPr>
            </a:pPr>
            <a:r>
              <a:t>•  ids-common: shared types, config, errors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666666"/>
                </a:solidFill>
                <a:latin typeface="Calibri"/>
              </a:defRPr>
            </a:pPr>
            <a:r>
              <a:t>•  ids-collector: packet capture, flow tracking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666666"/>
                </a:solidFill>
                <a:latin typeface="Calibri"/>
              </a:defRPr>
            </a:pPr>
            <a:r>
              <a:t>•  ids-preprocess: dataset loaders, SMOTE, scaling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4572000"/>
            <a:ext cx="5303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666666"/>
                </a:solidFill>
                <a:latin typeface="Calibri"/>
              </a:defRPr>
            </a:pPr>
            <a:r>
              <a:t>•  ids-engine: models, rules, ML inference, binaries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666666"/>
                </a:solidFill>
                <a:latin typeface="Calibri"/>
              </a:defRPr>
            </a:pPr>
            <a:r>
              <a:t>•  ids-response: alerter, blocker, SIEM export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666666"/>
                </a:solidFill>
                <a:latin typeface="Calibri"/>
              </a:defRPr>
            </a:pPr>
            <a:r>
              <a:t>•  ids-dashboard: web UI stub (axum)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Calibri"/>
              </a:defRPr>
            </a:pPr>
            <a:r>
              <a:t>AI/ML Model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  <a:latin typeface="Calibri"/>
              </a:defRPr>
            </a:pPr>
            <a:r>
              <a:t>3 complementary models trained on 3 public datasets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t>CNN+LSTM (~297K parameters)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•  Conv1d → ReLU → BatchNorm → Conv1d (feature extraction)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•  LSTM: 2 layers, 128 hidden units (temporal patterns)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•  FC: 128 → 64 → 5 classes, dropout 0.3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•  PyTorch training → ONNX export for live inference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•  Early stopping with patience=5, LR decay on plateau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931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t>Ensemble (RF + Isolation Forest)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389120"/>
            <a:ext cx="5486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•  Random Forest: 100 trees, max depth 20 (supervised)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•  Isolation Forest: anomaly detection for zero-days (unsupervised)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•  Hard voting: 70% RF / 30% IForest weighted blend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146304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1097280"/>
                <a:gridCol w="3657600"/>
              </a:tblGrid>
              <a:tr h="3048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Class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Example Attacks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Benign traffic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DoS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DDoS, SYN flood, Slowloris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Probe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Port scan, reconnaissance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R2L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Brute force, web attacks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U2R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Buffer overflow, rootkit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0" y="39319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t>Training Datasets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0" y="4389120"/>
          <a:ext cx="53035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828800"/>
                <a:gridCol w="731520"/>
                <a:gridCol w="1005840"/>
                <a:gridCol w="1005840"/>
              </a:tblGrid>
              <a:tr h="329184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Dataset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Year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SMOTE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NSL-KDD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1999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CIC-IDS2017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2017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78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UNSW-NB15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Combined (A+B+C)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Mixed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276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Calibri"/>
              </a:defRPr>
            </a:pPr>
            <a:r>
              <a:t>Training 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99669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645920"/>
                <a:gridCol w="914400"/>
                <a:gridCol w="1463040"/>
                <a:gridCol w="1371600"/>
                <a:gridCol w="1554480"/>
                <a:gridCol w="1371600"/>
                <a:gridCol w="9144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Dataset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CNN+LSTM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Isolation Forest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RF+IForest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FPR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NSL-KDD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67.26%*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65.94%*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77.24%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67.26%*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0.0301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CIC-IDS2017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78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99.73%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99.83%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81.37%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99.73%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0.0006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UNSW-NB15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93.90%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92.95%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82.50%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93.84%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0.0251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Combined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276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97.80%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97.67%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80.20%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97.82%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0.0043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6576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*Model A limited by NSL-KDD binary-only test labels (Probe/R2L/U2R collapsed)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4297680"/>
            <a:ext cx="2194560" cy="1371600"/>
          </a:xfrm>
          <a:prstGeom prst="round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4297680"/>
            <a:ext cx="73152" cy="13716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443484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E94560"/>
                </a:solidFill>
                <a:latin typeface="Calibri"/>
              </a:defRPr>
            </a:pPr>
            <a:r>
              <a:t>99.83%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50749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Best Accuracy</a:t>
            </a:r>
            <a:br/>
            <a:r>
              <a:t>CNN+LSTM, Model 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4297680"/>
            <a:ext cx="2194560" cy="1371600"/>
          </a:xfrm>
          <a:prstGeom prst="round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4297680"/>
            <a:ext cx="73152" cy="13716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443484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E94560"/>
                </a:solidFill>
                <a:latin typeface="Calibri"/>
              </a:defRPr>
            </a:pPr>
            <a:r>
              <a:t>0.06%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50749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False Positive Rate</a:t>
            </a:r>
            <a:br/>
            <a:r>
              <a:t>Model 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4297680"/>
            <a:ext cx="2194560" cy="1371600"/>
          </a:xfrm>
          <a:prstGeom prst="round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06640" y="4297680"/>
            <a:ext cx="73152" cy="13716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19" y="443484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E94560"/>
                </a:solidFill>
                <a:latin typeface="Calibri"/>
              </a:defRPr>
            </a:pPr>
            <a:r>
              <a:t>97.82%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19" y="50749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Cross-Era Generalisation</a:t>
            </a:r>
            <a:br/>
            <a:r>
              <a:t>Ensemble, Model 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Calibri"/>
              </a:defRPr>
            </a:pPr>
            <a:r>
              <a:t>Live IDS Monitor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  <a:latin typeface="Calibri"/>
              </a:defRPr>
            </a:pPr>
            <a:r>
              <a:t>Real-time packet capture, flow analysis, and ML inference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•  Rust binary captures packets via pnet (raw sockets)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•  Bidirectional flow tracking with configurable timeout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•  Extracts 78 CIC-IDS2017 features per completed flow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•  Python subprocess runs ONNX model via JSON Lines IPC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•  Time-windowed inference every 10s on active 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931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t>CPS-Specific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38912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•  Write-rate anomaly: &gt;2.0 writes/sec triggers alert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•  Read flood detection: &gt;50 reads/sec flagged as DoS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•  Physics engine: register bounds (valve 0–180°, tank 0–1023)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•  Pump oscillation: detects Stuxnet-style rapid toggling (&lt;5s)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•  Sensor spoofing: flags direct writes to read-only registers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•  State consistency: valve/pump mismatch, unsafe commands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828800"/>
            <a:ext cx="2194560" cy="1371600"/>
          </a:xfrm>
          <a:prstGeom prst="round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0" y="1828800"/>
            <a:ext cx="73152" cy="137160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0" y="196596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65F46"/>
                </a:solidFill>
                <a:latin typeface="Calibri"/>
              </a:defRPr>
            </a:pPr>
            <a:r>
              <a:t>~1ms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260604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ML Inference</a:t>
            </a:r>
            <a:br/>
            <a:r>
              <a:t>Latency per prediction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18320" y="1828800"/>
            <a:ext cx="2194560" cy="1371600"/>
          </a:xfrm>
          <a:prstGeom prst="round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418320" y="1828800"/>
            <a:ext cx="73152" cy="13716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0" y="196596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E40AF"/>
                </a:solidFill>
                <a:latin typeface="Calibri"/>
              </a:defRPr>
            </a:pPr>
            <a:r>
              <a:t>10s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260604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Inference Window</a:t>
            </a:r>
            <a:br/>
            <a:r>
              <a:t>Active flow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9319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t>Alert 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38912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•  Structured JSON (alerts.jsonl) with severity levels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•  Per-alert: category, confidence, model source, 5-tuple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•  SIEM-ready: CEF/syslog export capability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•  Graceful shutdown with final flow expiry and stats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Calibri"/>
              </a:defRPr>
            </a:pPr>
            <a:r>
              <a:t>Forensic Investigation: Attack 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  <a:latin typeface="Calibri"/>
              </a:defRPr>
            </a:pPr>
            <a:r>
              <a:t>8 attacks executed via automated pipeline (incl. Stuxnet MitM rootkit)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55448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2011680"/>
                <a:gridCol w="2286000"/>
                <a:gridCol w="1005840"/>
                <a:gridCol w="54864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Attack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Modbus FC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Duration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Command Injection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FC 0x05 (Write Coil)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45s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Forces pump ON/OFF every 5 seconds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Pump Oscillation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FC 0x05 (Write Coil)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45s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Rapid pump toggle every 2s (Stuxnet-style)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Valve Manipulation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FC 0x06 (Write Reg)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45s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Random valve positions (0–180°) every 3s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Replay Attack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FC 0x05 (Write Coil)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45s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Replays recorded ON/OFF command sequence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Sensor Spoofing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FC 0x06 (Write Reg)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45s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Writes fake tank levels (0–100) every 2s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Modbus Flood (DoS)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FC 0x03 (Read Reg)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20s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100× read requests per iteration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Multi-Stage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Mixed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30s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Recon (10s) → manipulation (20s) → flood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Stuxnet Rootkit (MitM)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Mixed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60s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Intermittent actuator manipulation + sensor falsification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8521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Evidence:  pcap (tcpdump)  |  alerts.jsonl (IDS)  |  attack-manifest.json  |  system artifacts (processes, connections, PLC registers)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Calibri"/>
              </a:defRPr>
            </a:pPr>
            <a:r>
              <a:t>Investigation Results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554480"/>
            <a:ext cx="2194560" cy="1371600"/>
          </a:xfrm>
          <a:prstGeom prst="round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73152" cy="137160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91639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65F46"/>
                </a:solidFill>
                <a:latin typeface="Calibri"/>
              </a:defRPr>
            </a:pPr>
            <a: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ML Alerts</a:t>
            </a:r>
            <a:br/>
            <a:r>
              <a:t>Across all 8 attacks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1554480"/>
            <a:ext cx="2194560" cy="1371600"/>
          </a:xfrm>
          <a:prstGeom prst="round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0" y="1554480"/>
            <a:ext cx="73152" cy="13716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1691639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E94560"/>
                </a:solidFill>
                <a:latin typeface="Calibri"/>
              </a:defRPr>
            </a:pPr>
            <a:r>
              <a:t>264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3317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CPS Physics Alerts</a:t>
            </a:r>
            <a:br/>
            <a:r>
              <a:t>Oscillation, spoofing,</a:t>
            </a:r>
            <a:br/>
            <a:r>
              <a:t>mismatch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1554480"/>
            <a:ext cx="2194560" cy="1371600"/>
          </a:xfrm>
          <a:prstGeom prst="round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1554480"/>
            <a:ext cx="73152" cy="1371600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0" y="1691639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92400E"/>
                </a:solidFill>
                <a:latin typeface="Calibri"/>
              </a:defRPr>
            </a:pPr>
            <a:r>
              <a:t>320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23317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Write-Rate Alerts</a:t>
            </a:r>
            <a:br/>
            <a:r>
              <a:t>Modbus anomaly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1554480"/>
            <a:ext cx="2194560" cy="1371600"/>
          </a:xfrm>
          <a:prstGeom prst="round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0" y="1554480"/>
            <a:ext cx="73152" cy="13716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79" y="1691639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E40AF"/>
                </a:solidFill>
                <a:latin typeface="Calibri"/>
              </a:defRPr>
            </a:pPr>
            <a:r>
              <a:t>13,109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23317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Flood Detection</a:t>
            </a:r>
            <a:br/>
            <a:r>
              <a:t>DoS &amp; multi-stage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0" y="15544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Calibri"/>
              </a:defRPr>
            </a:pPr>
            <a:r>
              <a:t>Coverage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9601200" y="2011680"/>
          <a:ext cx="22860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640080"/>
                <a:gridCol w="640080"/>
              </a:tblGrid>
              <a:tr h="3860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Attack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CPS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ML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Cmd Inject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</a:tr>
              <a:tr h="3860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Oscillation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Valve Manip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</a:tr>
              <a:tr h="3860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Replay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Spoofing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</a:tr>
              <a:tr h="3860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Flood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Multi-Stage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</a:tr>
              <a:tr h="3860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Rootkit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457200" y="3383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t>Forensic Tools &amp; Evidence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840480"/>
            <a:ext cx="9144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•  Wireshark: Modbus TCP dissector, FC filters, I/O graphs, conversation stats (14 screenshots)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•  tcpdump: live packet capture on loopback port 5502 (3.5 MB, 38,289 packets)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•  Custom IDS: 4-layer real-time detection (rules + rate + CPS physics + CNN+LSTM)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•  System artifacts: 19 PLC register snapshots, process lists, network connections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•  100% attack coverage — all 8 attacks detected by ML; 6/8 by CPS physics engine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Calibri"/>
              </a:defRPr>
            </a:pPr>
            <a:r>
              <a:t>Evaluation &amp;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5F46"/>
                </a:solidFill>
                <a:latin typeface="Calibri"/>
              </a:defRPr>
            </a:pPr>
            <a:r>
              <a:t>Strengths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2024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•  CNN+LSTM achieves 99.83% accuracy with 0.06% FPR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•  4-layer defence-in-depth (rules + rate + CPS physics + ML)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•  Cross-dataset generalisation at 97.8% (Model D)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•  Real-time inference &lt;1ms via ONNX Runtime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•  Ensemble improves minority class recall (R2L +7%)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94560"/>
                </a:solidFill>
                <a:latin typeface="Calibri"/>
              </a:defRPr>
            </a:pPr>
            <a:r>
              <a:t>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•  U2R class hardest (extremely rare training samples)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•  Model A degraded by NSL-KDD binary test labels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•  Domain gap: training data ≠ live Modbus traffic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•  Rule engine generates false positives on localhost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40AF"/>
                </a:solidFill>
                <a:latin typeface="Calibri"/>
              </a:defRPr>
            </a:pPr>
            <a:r>
              <a:t>Recommendations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•  Domain adaptation: fine-tune on captured Modbus traffic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•  Federated learning: train across CPS sites privately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•  Adaptive thresholds: tune rule engine per deployment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•  SIEM integration: CEF/syslog export for SOC workflows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657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t>Standards Alignment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11480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•  ISO 27001: A.12.4 logging, A.16 incident management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•  IEC 62443: defence-in-depth for industrial control systems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•  NIST CSF: Detect &amp; Respond functions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•  OWASP Top 10: injection prevention, access control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Calibri"/>
              </a:defRPr>
            </a:pPr>
            <a:r>
              <a:t>Summary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554480"/>
            <a:ext cx="2194560" cy="1371600"/>
          </a:xfrm>
          <a:prstGeom prst="round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554480"/>
            <a:ext cx="73152" cy="13716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91639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A1A2E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317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Rust Crates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554480"/>
            <a:ext cx="2194560" cy="1371600"/>
          </a:xfrm>
          <a:prstGeom prst="round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83280" y="1554480"/>
            <a:ext cx="73152" cy="13716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691639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A1A2E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3317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Model Variants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52160" y="1554480"/>
            <a:ext cx="2194560" cy="1371600"/>
          </a:xfrm>
          <a:prstGeom prst="round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852160" y="1554480"/>
            <a:ext cx="73152" cy="13716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691639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E94560"/>
                </a:solidFill>
                <a:latin typeface="Calibri"/>
              </a:defRPr>
            </a:pPr>
            <a:r>
              <a:t>99.83%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3317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Best Accuracy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1554480"/>
            <a:ext cx="2194560" cy="1371600"/>
          </a:xfrm>
          <a:prstGeom prst="round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21040" y="1554480"/>
            <a:ext cx="73152" cy="137160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19" y="1691639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65F46"/>
                </a:solidFill>
                <a:latin typeface="Calibri"/>
              </a:defRPr>
            </a:pPr>
            <a:r>
              <a:t>8 / 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19" y="23317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Attacks Detected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47472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•  Built a complete CPS testbed (Arduino hardware + MiniCPS software simulation)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•  Trained CNN+LSTM, Random Forest, and Isolation Forest on 3 public IDS datasets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•  Deployed live IDS monitor with CPS physics engine and real-time ONNX inference (~1ms)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•  Conducted forensic investigation detecting all 8 attacks (incl. Stuxnet MitM) across 4 layers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•  Multi-layer approach compensates for individual model weaknesses — 100% attack coverage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4864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A1A2E"/>
                </a:solidFill>
                <a:latin typeface="Calibri"/>
              </a:defRPr>
            </a:pPr>
            <a:r>
              <a:t>Thank you —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